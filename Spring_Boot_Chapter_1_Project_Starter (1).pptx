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5" r:id="rId4"/>
    <p:sldId id="27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7" r:id="rId15"/>
    <p:sldId id="276" r:id="rId16"/>
    <p:sldId id="259" r:id="rId17"/>
    <p:sldId id="260" r:id="rId18"/>
    <p:sldId id="261" r:id="rId19"/>
    <p:sldId id="262" r:id="rId20"/>
    <p:sldId id="263" r:id="rId21"/>
    <p:sldId id="264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7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9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3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8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0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3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0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8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1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38C9467-74D2-45C0-8017-BB48A1E5DF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57A4FAC-662C-465D-B2FF-731813B12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6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C0B2-652E-46C8-EA23-811A802A9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Spring Boot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F5A26-7FFF-63CD-7B41-712074A84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Chapter 1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(Explains the Project Starter’s Backend)</a:t>
            </a:r>
            <a:endParaRPr lang="en-US" sz="4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931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6B70-CBD1-4A90-48DF-EE5DC14D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Starter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74A888-5683-E887-2B5B-32630A48A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7013" y="1872374"/>
            <a:ext cx="8271902" cy="47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7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741B-AB6A-00B3-7201-87B7B7F0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Layered backend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ABDE-EF50-BA29-9C3A-1E20AFFBD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Why layers?</a:t>
            </a:r>
          </a:p>
          <a:p>
            <a:r>
              <a:rPr lang="en-US" sz="2000"/>
              <a:t>Separate </a:t>
            </a:r>
            <a:r>
              <a:rPr lang="en-US" sz="2000" b="1"/>
              <a:t>responsibilities</a:t>
            </a:r>
            <a:endParaRPr lang="en-US" sz="2000"/>
          </a:p>
          <a:p>
            <a:r>
              <a:rPr lang="en-US" sz="2000"/>
              <a:t>Make code </a:t>
            </a:r>
            <a:r>
              <a:rPr lang="en-US" sz="2000" b="1"/>
              <a:t>easier to test and maintain</a:t>
            </a:r>
            <a:endParaRPr lang="en-US" sz="2000"/>
          </a:p>
          <a:p>
            <a:r>
              <a:rPr lang="en-US" sz="2000"/>
              <a:t>Allow you to </a:t>
            </a:r>
            <a:r>
              <a:rPr lang="en-US" sz="2000" b="1"/>
              <a:t>change one piece</a:t>
            </a:r>
            <a:r>
              <a:rPr lang="en-US" sz="2000"/>
              <a:t> (e.g. database) without rewriting everything</a:t>
            </a:r>
          </a:p>
          <a:p>
            <a:endParaRPr lang="en-US" sz="200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29B58B8-5AA4-AEB1-7908-ED6673829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34067"/>
            <a:ext cx="5150277" cy="221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4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43B7-811A-78F7-998E-6EF912EC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bootstrap – </a:t>
            </a:r>
            <a:r>
              <a:rPr lang="en-US" i="1" dirty="0"/>
              <a:t>“Where does it all start?”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16A34-DD8C-F0ED-A837-0AEDBB9A6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Class: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EcommApplication</a:t>
            </a:r>
            <a:r>
              <a:rPr lang="en-US" dirty="0"/>
              <a:t> in </a:t>
            </a:r>
            <a:r>
              <a:rPr lang="en-US" dirty="0" err="1">
                <a:latin typeface="Courier New" panose="02070309020205020404" pitchFamily="49" charset="0"/>
              </a:rPr>
              <a:t>com.example.ecomm</a:t>
            </a:r>
            <a:endParaRPr lang="en-US" dirty="0"/>
          </a:p>
          <a:p>
            <a:pPr>
              <a:buNone/>
            </a:pPr>
            <a:r>
              <a:rPr lang="en-US" b="1" dirty="0"/>
              <a:t>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 entry point of the Spring Boot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the </a:t>
            </a:r>
            <a:r>
              <a:rPr lang="en-US" dirty="0">
                <a:latin typeface="Courier New" panose="02070309020205020404" pitchFamily="49" charset="0"/>
              </a:rPr>
              <a:t>main</a:t>
            </a:r>
            <a:r>
              <a:rPr lang="en-US" dirty="0"/>
              <a:t> method and </a:t>
            </a:r>
            <a:r>
              <a:rPr lang="en-US" dirty="0">
                <a:latin typeface="Courier New" panose="02070309020205020404" pitchFamily="49" charset="0"/>
              </a:rPr>
              <a:t>@SpringBootApplication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What @SpringBootApplication does</a:t>
            </a:r>
            <a:r>
              <a:rPr lang="en-US" dirty="0"/>
              <a:t>:</a:t>
            </a:r>
          </a:p>
          <a:p>
            <a:r>
              <a:rPr lang="en-US" dirty="0"/>
              <a:t>Enables component scanning:</a:t>
            </a:r>
          </a:p>
          <a:p>
            <a:pPr lvl="1"/>
            <a:r>
              <a:rPr lang="en-US" dirty="0"/>
              <a:t>Finds @RestController, @Repository, @Entity, etc. in </a:t>
            </a:r>
            <a:r>
              <a:rPr lang="en-US" dirty="0" err="1"/>
              <a:t>com.example.ecomm</a:t>
            </a:r>
            <a:r>
              <a:rPr lang="en-US" dirty="0"/>
              <a:t> package.</a:t>
            </a:r>
          </a:p>
          <a:p>
            <a:r>
              <a:rPr lang="en-US" dirty="0"/>
              <a:t>Turns on auto-configuration:</a:t>
            </a:r>
          </a:p>
          <a:p>
            <a:pPr lvl="1"/>
            <a:r>
              <a:rPr lang="en-US" dirty="0"/>
              <a:t>Reads </a:t>
            </a:r>
            <a:r>
              <a:rPr lang="en-US" dirty="0" err="1"/>
              <a:t>application.properties</a:t>
            </a:r>
            <a:r>
              <a:rPr lang="en-US" dirty="0"/>
              <a:t> and configures </a:t>
            </a:r>
            <a:r>
              <a:rPr lang="en-US" dirty="0" err="1"/>
              <a:t>DataSource</a:t>
            </a:r>
            <a:r>
              <a:rPr lang="en-US" dirty="0"/>
              <a:t>, JPA, Tomcat server, etc.</a:t>
            </a:r>
          </a:p>
          <a:p>
            <a:r>
              <a:rPr lang="en-US" dirty="0"/>
              <a:t>Simplifies bootstrapping:</a:t>
            </a:r>
          </a:p>
          <a:p>
            <a:pPr lvl="1"/>
            <a:r>
              <a:rPr lang="en-US" dirty="0"/>
              <a:t>You just run main, and the whole web server + DB connection is ready.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1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ECC4A-3F53-73B9-8598-83166A71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Model layer (1) – </a:t>
            </a:r>
            <a:r>
              <a:rPr lang="en-US" sz="4400" i="1" dirty="0">
                <a:solidFill>
                  <a:srgbClr val="FFFFFF"/>
                </a:solidFill>
              </a:rPr>
              <a:t>“What is our data?” 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0A9D-6D96-ED25-6BAE-F3E4204DE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900" b="1"/>
              <a:t>Package:</a:t>
            </a:r>
            <a:r>
              <a:rPr lang="en-US" sz="1900"/>
              <a:t> </a:t>
            </a:r>
            <a:r>
              <a:rPr lang="en-US" sz="1900" err="1">
                <a:latin typeface="Courier New" panose="02070309020205020404" pitchFamily="49" charset="0"/>
              </a:rPr>
              <a:t>com.example.ecomm.model</a:t>
            </a:r>
            <a:r>
              <a:rPr lang="en-US" sz="1900" b="1" err="1"/>
              <a:t>Example</a:t>
            </a:r>
            <a:r>
              <a:rPr lang="en-US" sz="1900" b="1"/>
              <a:t> class:</a:t>
            </a:r>
            <a:r>
              <a:rPr lang="en-US" sz="1900"/>
              <a:t> </a:t>
            </a:r>
            <a:r>
              <a:rPr lang="en-US" sz="1900">
                <a:latin typeface="Courier New" panose="02070309020205020404" pitchFamily="49" charset="0"/>
              </a:rPr>
              <a:t>Product</a:t>
            </a:r>
            <a:endParaRPr lang="en-US" sz="1900"/>
          </a:p>
          <a:p>
            <a:pPr>
              <a:buNone/>
            </a:pPr>
            <a:r>
              <a:rPr lang="en-US" sz="1900" b="1"/>
              <a:t>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Represents the </a:t>
            </a:r>
            <a:r>
              <a:rPr lang="en-US" sz="1900" b="1"/>
              <a:t>core business objects</a:t>
            </a:r>
            <a:r>
              <a:rPr lang="en-US" sz="1900"/>
              <a:t> of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In a JPA application, these are usually </a:t>
            </a:r>
            <a:r>
              <a:rPr lang="en-US" sz="1900" b="1"/>
              <a:t>entities mapped to database tables</a:t>
            </a:r>
            <a:r>
              <a:rPr lang="en-US" sz="1900"/>
              <a:t>.</a:t>
            </a:r>
          </a:p>
          <a:p>
            <a:pPr>
              <a:buNone/>
            </a:pPr>
            <a:r>
              <a:rPr lang="en-US" sz="1900" b="1"/>
              <a:t>Typical contents (in </a:t>
            </a:r>
            <a:r>
              <a:rPr lang="en-US" sz="1900" b="1">
                <a:latin typeface="Courier New" panose="02070309020205020404" pitchFamily="49" charset="0"/>
              </a:rPr>
              <a:t>Product</a:t>
            </a:r>
            <a:r>
              <a:rPr lang="en-US" sz="1900" b="1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Fields: </a:t>
            </a:r>
            <a:r>
              <a:rPr lang="en-US" sz="1900">
                <a:latin typeface="Courier New" panose="02070309020205020404" pitchFamily="49" charset="0"/>
              </a:rPr>
              <a:t>id</a:t>
            </a:r>
            <a:r>
              <a:rPr lang="en-US" sz="1900"/>
              <a:t>, </a:t>
            </a:r>
            <a:r>
              <a:rPr lang="en-US" sz="1900">
                <a:latin typeface="Courier New" panose="02070309020205020404" pitchFamily="49" charset="0"/>
              </a:rPr>
              <a:t>name</a:t>
            </a:r>
            <a:r>
              <a:rPr lang="en-US" sz="1900"/>
              <a:t>, </a:t>
            </a:r>
            <a:r>
              <a:rPr lang="en-US" sz="1900">
                <a:latin typeface="Courier New" panose="02070309020205020404" pitchFamily="49" charset="0"/>
              </a:rPr>
              <a:t>description</a:t>
            </a:r>
            <a:r>
              <a:rPr lang="en-US" sz="1900"/>
              <a:t>, </a:t>
            </a:r>
            <a:r>
              <a:rPr lang="en-US" sz="1900">
                <a:latin typeface="Courier New" panose="02070309020205020404" pitchFamily="49" charset="0"/>
              </a:rPr>
              <a:t>price</a:t>
            </a:r>
            <a:r>
              <a:rPr lang="en-US" sz="1900"/>
              <a:t>, </a:t>
            </a:r>
            <a:r>
              <a:rPr lang="en-US" sz="1900" err="1">
                <a:latin typeface="Courier New" panose="02070309020205020404" pitchFamily="49" charset="0"/>
              </a:rPr>
              <a:t>imageUrl</a:t>
            </a:r>
            <a:r>
              <a:rPr lang="en-US" sz="1900"/>
              <a:t>, </a:t>
            </a:r>
            <a:r>
              <a:rPr lang="en-US" sz="1900">
                <a:latin typeface="Courier New" panose="02070309020205020404" pitchFamily="49" charset="0"/>
              </a:rPr>
              <a:t>featured</a:t>
            </a:r>
            <a:r>
              <a:rPr lang="en-US" sz="1900"/>
              <a:t>, </a:t>
            </a:r>
            <a:r>
              <a:rPr lang="en-US" sz="1900">
                <a:latin typeface="Courier New" panose="02070309020205020404" pitchFamily="49" charset="0"/>
              </a:rPr>
              <a:t>details</a:t>
            </a:r>
            <a:endParaRPr lang="en-US" sz="1900"/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JPA annotations: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>
                <a:latin typeface="Courier New" panose="02070309020205020404" pitchFamily="49" charset="0"/>
              </a:rPr>
              <a:t>@Entity</a:t>
            </a:r>
            <a:r>
              <a:rPr lang="en-US" sz="1900"/>
              <a:t> – marks the class as a JPA 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>
                <a:latin typeface="Courier New" panose="02070309020205020404" pitchFamily="49" charset="0"/>
              </a:rPr>
              <a:t>@Table(name = "products")</a:t>
            </a:r>
            <a:r>
              <a:rPr lang="en-US" sz="1900"/>
              <a:t> – maps to the </a:t>
            </a:r>
            <a:r>
              <a:rPr lang="en-US" sz="1900">
                <a:latin typeface="Courier New" panose="02070309020205020404" pitchFamily="49" charset="0"/>
              </a:rPr>
              <a:t>products</a:t>
            </a:r>
            <a:r>
              <a:rPr lang="en-US" sz="1900"/>
              <a:t>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>
                <a:latin typeface="Courier New" panose="02070309020205020404" pitchFamily="49" charset="0"/>
              </a:rPr>
              <a:t>@Id</a:t>
            </a:r>
            <a:r>
              <a:rPr lang="en-US" sz="1900"/>
              <a:t>, </a:t>
            </a:r>
            <a:r>
              <a:rPr lang="en-US" sz="1900">
                <a:latin typeface="Courier New" panose="02070309020205020404" pitchFamily="49" charset="0"/>
              </a:rPr>
              <a:t>@GeneratedValue</a:t>
            </a:r>
            <a:r>
              <a:rPr lang="en-US" sz="1900"/>
              <a:t> – primary key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>
                <a:latin typeface="Courier New" panose="02070309020205020404" pitchFamily="49" charset="0"/>
              </a:rPr>
              <a:t>@Column</a:t>
            </a:r>
            <a:r>
              <a:rPr lang="en-US" sz="1900"/>
              <a:t> – column details (length, </a:t>
            </a:r>
            <a:r>
              <a:rPr lang="en-US" sz="1900">
                <a:latin typeface="Courier New" panose="02070309020205020404" pitchFamily="49" charset="0"/>
              </a:rPr>
              <a:t>TEXT</a:t>
            </a:r>
            <a:r>
              <a:rPr lang="en-US" sz="1900"/>
              <a:t>, nullable, etc.)</a:t>
            </a:r>
          </a:p>
          <a:p>
            <a:pPr>
              <a:buNone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70742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4065C-2DAF-9510-8E17-B1216B1E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64987-3DAE-D151-2F15-E658DAB4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Model layer (2) – </a:t>
            </a:r>
            <a:r>
              <a:rPr lang="en-US" sz="4400" i="1" dirty="0">
                <a:solidFill>
                  <a:srgbClr val="FFFFFF"/>
                </a:solidFill>
              </a:rPr>
              <a:t>“What is our data?” 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0307CF-4BF6-BD5C-54F4-43357BBF10A3}"/>
              </a:ext>
            </a:extLst>
          </p:cNvPr>
          <p:cNvSpPr txBox="1">
            <a:spLocks/>
          </p:cNvSpPr>
          <p:nvPr/>
        </p:nvSpPr>
        <p:spPr>
          <a:xfrm>
            <a:off x="4614389" y="936711"/>
            <a:ext cx="6815992" cy="4984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Arial" pitchFamily="34" charset="0"/>
              <a:buChar char=" 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Important techniques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JPA mappings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One-to-Many, Many-to-One (@OneToMany, @ManyToOne, etc.)</a:t>
            </a:r>
          </a:p>
          <a:p>
            <a:pPr marL="742950" lvl="1"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Validation annotations (optional but common):</a:t>
            </a:r>
          </a:p>
          <a:p>
            <a:pPr lvl="2"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@NotNull, @Size, @Positive from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jakarta.validation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Encapsulation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getters/setters or constructors to keep the model consistent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rules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Some simple invariants can be enforced here</a:t>
            </a:r>
          </a:p>
          <a:p>
            <a:pPr marL="742950" lvl="1"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Example: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setPrice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shouldn’t allow negative numbers</a:t>
            </a:r>
          </a:p>
        </p:txBody>
      </p:sp>
    </p:spTree>
    <p:extLst>
      <p:ext uri="{BB962C8B-B14F-4D97-AF65-F5344CB8AC3E}">
        <p14:creationId xmlns:p14="http://schemas.microsoft.com/office/powerpoint/2010/main" val="314722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B8DEE-0883-6465-50DE-AA254000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643467"/>
            <a:ext cx="6235869" cy="5584295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900" b="1" dirty="0"/>
              <a:t>Package:</a:t>
            </a:r>
            <a:r>
              <a:rPr lang="en-US" sz="1900" dirty="0"/>
              <a:t> </a:t>
            </a:r>
            <a:r>
              <a:rPr lang="en-US" sz="1900" dirty="0" err="1">
                <a:latin typeface="Courier New" panose="02070309020205020404" pitchFamily="49" charset="0"/>
              </a:rPr>
              <a:t>com.example.ecomm.repository</a:t>
            </a:r>
            <a:endParaRPr lang="en-US" sz="19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900" b="1" dirty="0"/>
              <a:t>Example class:</a:t>
            </a:r>
            <a:r>
              <a:rPr lang="en-US" sz="1900" dirty="0"/>
              <a:t> </a:t>
            </a:r>
            <a:r>
              <a:rPr lang="en-US" sz="1900" dirty="0" err="1">
                <a:latin typeface="Courier New" panose="02070309020205020404" pitchFamily="49" charset="0"/>
              </a:rPr>
              <a:t>ProductRepository</a:t>
            </a:r>
            <a:r>
              <a:rPr lang="en-US" sz="1900" dirty="0"/>
              <a:t> (extends </a:t>
            </a:r>
            <a:r>
              <a:rPr lang="en-US" sz="1900" dirty="0" err="1">
                <a:latin typeface="Courier New" panose="02070309020205020404" pitchFamily="49" charset="0"/>
              </a:rPr>
              <a:t>JpaRepository</a:t>
            </a:r>
            <a:r>
              <a:rPr lang="en-US" sz="1900" dirty="0">
                <a:latin typeface="Courier New" panose="02070309020205020404" pitchFamily="49" charset="0"/>
              </a:rPr>
              <a:t>&lt;Product, Long&gt;</a:t>
            </a:r>
            <a:r>
              <a:rPr lang="en-US" sz="1900" dirty="0"/>
              <a:t>)</a:t>
            </a:r>
          </a:p>
          <a:p>
            <a:pPr>
              <a:buNone/>
            </a:pPr>
            <a:r>
              <a:rPr lang="en-US" sz="1900" b="1" dirty="0"/>
              <a:t>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Provides an </a:t>
            </a:r>
            <a:r>
              <a:rPr lang="en-US" sz="1900" b="1" dirty="0"/>
              <a:t>abstraction over the database</a:t>
            </a:r>
            <a:r>
              <a:rPr lang="en-US" sz="1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The rest of the application </a:t>
            </a:r>
            <a:r>
              <a:rPr lang="en-US" sz="1900" b="1" dirty="0"/>
              <a:t>does not write SQL directly</a:t>
            </a:r>
            <a:r>
              <a:rPr lang="en-US" sz="1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Uses Spring Data JPA to generate queries.</a:t>
            </a:r>
          </a:p>
          <a:p>
            <a:pPr>
              <a:buNone/>
            </a:pPr>
            <a:r>
              <a:rPr lang="en-US" sz="1900" b="1" dirty="0"/>
              <a:t>Typical features in </a:t>
            </a:r>
            <a:r>
              <a:rPr lang="en-US" sz="1900" b="1" dirty="0" err="1">
                <a:latin typeface="Courier New" panose="02070309020205020404" pitchFamily="49" charset="0"/>
              </a:rPr>
              <a:t>ProductRepository</a:t>
            </a:r>
            <a:endParaRPr lang="en-US" sz="19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Inherit CRUD methods from </a:t>
            </a:r>
            <a:r>
              <a:rPr lang="en-US" sz="1900" dirty="0" err="1">
                <a:latin typeface="Courier New" panose="02070309020205020404" pitchFamily="49" charset="0"/>
              </a:rPr>
              <a:t>JpaRepository</a:t>
            </a:r>
            <a:r>
              <a:rPr lang="en-US" sz="19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 err="1">
                <a:latin typeface="Courier New" panose="02070309020205020404" pitchFamily="49" charset="0"/>
              </a:rPr>
              <a:t>findAll</a:t>
            </a:r>
            <a:r>
              <a:rPr lang="en-US" sz="1900" dirty="0">
                <a:latin typeface="Courier New" panose="02070309020205020404" pitchFamily="49" charset="0"/>
              </a:rPr>
              <a:t>()</a:t>
            </a:r>
            <a:r>
              <a:rPr lang="en-US" sz="1900" dirty="0"/>
              <a:t>, </a:t>
            </a:r>
            <a:r>
              <a:rPr lang="en-US" sz="1900" dirty="0" err="1">
                <a:latin typeface="Courier New" panose="02070309020205020404" pitchFamily="49" charset="0"/>
              </a:rPr>
              <a:t>findById</a:t>
            </a:r>
            <a:r>
              <a:rPr lang="en-US" sz="1900" dirty="0"/>
              <a:t>, </a:t>
            </a:r>
            <a:r>
              <a:rPr lang="en-US" sz="1900" dirty="0">
                <a:latin typeface="Courier New" panose="02070309020205020404" pitchFamily="49" charset="0"/>
              </a:rPr>
              <a:t>save</a:t>
            </a:r>
            <a:r>
              <a:rPr lang="en-US" sz="1900" dirty="0"/>
              <a:t>, </a:t>
            </a:r>
            <a:r>
              <a:rPr lang="en-US" sz="1900" dirty="0" err="1">
                <a:latin typeface="Courier New" panose="02070309020205020404" pitchFamily="49" charset="0"/>
              </a:rPr>
              <a:t>deleteById</a:t>
            </a:r>
            <a:r>
              <a:rPr lang="en-US" sz="1900" dirty="0"/>
              <a:t>,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Custom query methods using </a:t>
            </a:r>
            <a:r>
              <a:rPr lang="en-US" sz="1900" b="1" dirty="0"/>
              <a:t>method names</a:t>
            </a:r>
            <a:r>
              <a:rPr lang="en-US" sz="19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Courier New" panose="02070309020205020404" pitchFamily="49" charset="0"/>
              </a:rPr>
              <a:t>List&lt;Product&gt; </a:t>
            </a:r>
            <a:r>
              <a:rPr lang="en-US" sz="1900" dirty="0" err="1">
                <a:latin typeface="Courier New" panose="02070309020205020404" pitchFamily="49" charset="0"/>
              </a:rPr>
              <a:t>findByFeaturedTrueOrderByIdDesc</a:t>
            </a:r>
            <a:r>
              <a:rPr lang="en-US" sz="1900" dirty="0">
                <a:latin typeface="Courier New" panose="02070309020205020404" pitchFamily="49" charset="0"/>
              </a:rPr>
              <a:t>();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Optional </a:t>
            </a:r>
            <a:r>
              <a:rPr lang="en-US" sz="1900" dirty="0">
                <a:latin typeface="Courier New" panose="02070309020205020404" pitchFamily="49" charset="0"/>
              </a:rPr>
              <a:t>@Query</a:t>
            </a:r>
            <a:r>
              <a:rPr lang="en-US" sz="1900" dirty="0"/>
              <a:t> methods for more complex SQL / JPQL.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016A8-C645-97D5-E1F2-898E1A1D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Repository layer (1) – </a:t>
            </a:r>
            <a:r>
              <a:rPr lang="en-US" sz="4000" i="1" dirty="0">
                <a:solidFill>
                  <a:srgbClr val="FFFFFF"/>
                </a:solidFill>
              </a:rPr>
              <a:t>“How do we talk to the database?” 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00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14511-9D47-205B-C075-34C53126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8EDCF-F1DE-0188-6B60-C8EF99C9B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643467"/>
            <a:ext cx="6235869" cy="5584295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b="1" dirty="0"/>
              <a:t>Important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Method name queries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Spring parses names like </a:t>
            </a:r>
            <a:r>
              <a:rPr lang="en-US" dirty="0" err="1"/>
              <a:t>findByFeaturedTrueOrderByIdDesc</a:t>
            </a:r>
            <a:r>
              <a:rPr lang="en-US" dirty="0"/>
              <a:t> → generates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Pagination &amp; sorting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Page&lt;Product&gt; </a:t>
            </a:r>
            <a:r>
              <a:rPr lang="en-US" dirty="0" err="1"/>
              <a:t>findAll</a:t>
            </a:r>
            <a:r>
              <a:rPr lang="en-US" dirty="0"/>
              <a:t>(Pageable pageable);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Useful for listing products page by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Separation of concerns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Controllers and services never need to know </a:t>
            </a:r>
            <a:r>
              <a:rPr lang="en-US" i="1" dirty="0"/>
              <a:t>how</a:t>
            </a:r>
            <a:r>
              <a:rPr lang="en-US" dirty="0"/>
              <a:t> data is stored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you change from PostgreSQL to MySQL, repository interface stays the same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2BC14-5AD9-2BF4-462E-170B1EB4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Repository layer (2) – </a:t>
            </a:r>
            <a:r>
              <a:rPr lang="en-US" sz="4000" i="1" dirty="0">
                <a:solidFill>
                  <a:srgbClr val="FFFFFF"/>
                </a:solidFill>
              </a:rPr>
              <a:t>“How do we talk to the database?” 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64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AB297-3FA8-4EAA-5438-EB84B844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DTO layer (1) – </a:t>
            </a:r>
            <a:r>
              <a:rPr lang="en-US" sz="4400" i="1">
                <a:solidFill>
                  <a:srgbClr val="FFFFFF"/>
                </a:solidFill>
              </a:rPr>
              <a:t>“What do we send over the network?”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008A7-660C-413C-6A51-A1DC3056C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700" b="1"/>
              <a:t>Package:</a:t>
            </a:r>
            <a:r>
              <a:rPr lang="en-US" sz="1700"/>
              <a:t> </a:t>
            </a:r>
            <a:r>
              <a:rPr lang="en-US" sz="1700" err="1">
                <a:latin typeface="Courier New" panose="02070309020205020404" pitchFamily="49" charset="0"/>
              </a:rPr>
              <a:t>com.example.ecomm.dto</a:t>
            </a:r>
            <a:endParaRPr lang="en-US" sz="170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700" b="1"/>
              <a:t>Example class:</a:t>
            </a:r>
            <a:r>
              <a:rPr lang="en-US" sz="1700"/>
              <a:t> </a:t>
            </a:r>
            <a:r>
              <a:rPr lang="en-US" sz="1700" err="1">
                <a:latin typeface="Courier New" panose="02070309020205020404" pitchFamily="49" charset="0"/>
              </a:rPr>
              <a:t>ProductDTO</a:t>
            </a:r>
            <a:endParaRPr lang="en-US" sz="1700"/>
          </a:p>
          <a:p>
            <a:pPr>
              <a:buNone/>
            </a:pPr>
            <a:r>
              <a:rPr lang="en-US" sz="1700" b="1"/>
              <a:t>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DTO = </a:t>
            </a:r>
            <a:r>
              <a:rPr lang="en-US" sz="1700" b="1"/>
              <a:t>Data Transfer Object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Represents the data shape that the </a:t>
            </a:r>
            <a:r>
              <a:rPr lang="en-US" sz="1700" b="1"/>
              <a:t>API exposes</a:t>
            </a:r>
            <a:r>
              <a:rPr lang="en-US" sz="1700"/>
              <a:t> to clients (React frontend).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Helps to </a:t>
            </a:r>
            <a:r>
              <a:rPr lang="en-US" sz="1700" b="1"/>
              <a:t>decouple</a:t>
            </a:r>
            <a:r>
              <a:rPr lang="en-US" sz="17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internal entity structure (</a:t>
            </a:r>
            <a:r>
              <a:rPr lang="en-US" sz="1700">
                <a:latin typeface="Courier New" panose="02070309020205020404" pitchFamily="49" charset="0"/>
              </a:rPr>
              <a:t>Product</a:t>
            </a:r>
            <a:r>
              <a:rPr lang="en-US" sz="170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external JSON contract (</a:t>
            </a:r>
            <a:r>
              <a:rPr lang="en-US" sz="1700" err="1">
                <a:latin typeface="Courier New" panose="02070309020205020404" pitchFamily="49" charset="0"/>
              </a:rPr>
              <a:t>ProductDTO</a:t>
            </a:r>
            <a:r>
              <a:rPr lang="en-US" sz="1700"/>
              <a:t>)</a:t>
            </a:r>
          </a:p>
          <a:p>
            <a:pPr>
              <a:buNone/>
            </a:pPr>
            <a:r>
              <a:rPr lang="en-US" sz="1700" b="1"/>
              <a:t>Why not return </a:t>
            </a:r>
            <a:r>
              <a:rPr lang="en-US" sz="1700" b="1">
                <a:latin typeface="Courier New" panose="02070309020205020404" pitchFamily="49" charset="0"/>
              </a:rPr>
              <a:t>Product</a:t>
            </a:r>
            <a:r>
              <a:rPr lang="en-US" sz="1700" b="1"/>
              <a:t> directly?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Security: maybe you don’t want to expose internal fields (e.g. internal IDs, audit columns).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Stability: DTO can remain stable even if the entity changes (e.g. new fields).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Transformation: you can format data differently for the API (e.g. combine fields, hide fields).</a:t>
            </a:r>
          </a:p>
        </p:txBody>
      </p:sp>
    </p:spTree>
    <p:extLst>
      <p:ext uri="{BB962C8B-B14F-4D97-AF65-F5344CB8AC3E}">
        <p14:creationId xmlns:p14="http://schemas.microsoft.com/office/powerpoint/2010/main" val="2471857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C583B-CC42-2168-28C5-6EABB471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57DD9-5470-015B-F9AB-B565D25D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DTO layer (2) – </a:t>
            </a:r>
            <a:r>
              <a:rPr lang="en-US" sz="4400" i="1">
                <a:solidFill>
                  <a:srgbClr val="FFFFFF"/>
                </a:solidFill>
              </a:rPr>
              <a:t>“What do we send over the network?”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69486-CF7F-5F42-AC76-C35D23AE5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700" b="1"/>
              <a:t>Typical contents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Fields that are safe and useful for the client: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>
                <a:latin typeface="Courier New" panose="02070309020205020404" pitchFamily="49" charset="0"/>
              </a:rPr>
              <a:t>id</a:t>
            </a:r>
            <a:r>
              <a:rPr lang="en-US" sz="1700"/>
              <a:t>, </a:t>
            </a:r>
            <a:r>
              <a:rPr lang="en-US" sz="1700">
                <a:latin typeface="Courier New" panose="02070309020205020404" pitchFamily="49" charset="0"/>
              </a:rPr>
              <a:t>name</a:t>
            </a:r>
            <a:r>
              <a:rPr lang="en-US" sz="1700"/>
              <a:t>, </a:t>
            </a:r>
            <a:r>
              <a:rPr lang="en-US" sz="1700">
                <a:latin typeface="Courier New" panose="02070309020205020404" pitchFamily="49" charset="0"/>
              </a:rPr>
              <a:t>description</a:t>
            </a:r>
            <a:r>
              <a:rPr lang="en-US" sz="1700"/>
              <a:t>, </a:t>
            </a:r>
            <a:r>
              <a:rPr lang="en-US" sz="1700">
                <a:latin typeface="Courier New" panose="02070309020205020404" pitchFamily="49" charset="0"/>
              </a:rPr>
              <a:t>price</a:t>
            </a:r>
            <a:r>
              <a:rPr lang="en-US" sz="1700"/>
              <a:t>, </a:t>
            </a:r>
            <a:r>
              <a:rPr lang="en-US" sz="1700" err="1">
                <a:latin typeface="Courier New" panose="02070309020205020404" pitchFamily="49" charset="0"/>
              </a:rPr>
              <a:t>imageUrl</a:t>
            </a:r>
            <a:r>
              <a:rPr lang="en-US" sz="1700"/>
              <a:t>, </a:t>
            </a:r>
            <a:r>
              <a:rPr lang="en-US" sz="1700">
                <a:latin typeface="Courier New" panose="02070309020205020404" pitchFamily="49" charset="0"/>
              </a:rPr>
              <a:t>details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Constructors + getters/setters.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In the controller, you map </a:t>
            </a:r>
            <a:r>
              <a:rPr lang="en-US" sz="1700">
                <a:latin typeface="Courier New" panose="02070309020205020404" pitchFamily="49" charset="0"/>
              </a:rPr>
              <a:t>Product → </a:t>
            </a:r>
            <a:r>
              <a:rPr lang="en-US" sz="1700" err="1">
                <a:latin typeface="Courier New" panose="02070309020205020404" pitchFamily="49" charset="0"/>
              </a:rPr>
              <a:t>ProductDTO</a:t>
            </a:r>
            <a:r>
              <a:rPr lang="en-US" sz="1700"/>
              <a:t> with </a:t>
            </a:r>
            <a:r>
              <a:rPr lang="en-US" sz="1700">
                <a:latin typeface="Courier New" panose="02070309020205020404" pitchFamily="49" charset="0"/>
              </a:rPr>
              <a:t>.map(...)</a:t>
            </a:r>
            <a:r>
              <a:rPr lang="en-US" sz="1700"/>
              <a:t> on a stream.</a:t>
            </a:r>
          </a:p>
          <a:p>
            <a:pPr>
              <a:buNone/>
            </a:pPr>
            <a:r>
              <a:rPr lang="en-US" sz="1700" b="1"/>
              <a:t>Important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Manual mapping</a:t>
            </a:r>
            <a:r>
              <a:rPr lang="en-US" sz="1700"/>
              <a:t> (what we do now)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Simple and explicit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Mapping libraries</a:t>
            </a:r>
            <a:r>
              <a:rPr lang="en-US" sz="1700"/>
              <a:t> (advanced)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err="1"/>
              <a:t>ModelMapper</a:t>
            </a:r>
            <a:r>
              <a:rPr lang="en-US" sz="1700"/>
              <a:t>, </a:t>
            </a:r>
            <a:r>
              <a:rPr lang="en-US" sz="1700" err="1"/>
              <a:t>MapStruct</a:t>
            </a:r>
            <a:r>
              <a:rPr lang="en-US" sz="1700"/>
              <a:t>, etc. for larger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Versioning</a:t>
            </a:r>
            <a:endParaRPr lang="en-US" sz="17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DTOs make it easier to introduce </a:t>
            </a:r>
            <a:r>
              <a:rPr lang="en-US" sz="1700">
                <a:latin typeface="Courier New" panose="02070309020205020404" pitchFamily="49" charset="0"/>
              </a:rPr>
              <a:t>ProductV2DTO</a:t>
            </a:r>
            <a:r>
              <a:rPr lang="en-US" sz="1700"/>
              <a:t> later without breaking old clients</a:t>
            </a:r>
          </a:p>
        </p:txBody>
      </p:sp>
    </p:spTree>
    <p:extLst>
      <p:ext uri="{BB962C8B-B14F-4D97-AF65-F5344CB8AC3E}">
        <p14:creationId xmlns:p14="http://schemas.microsoft.com/office/powerpoint/2010/main" val="337826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0EADF-C35A-22DE-2CDC-F9FA9166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Controller layer – </a:t>
            </a:r>
            <a:r>
              <a:rPr lang="en-US" sz="4400" i="1">
                <a:solidFill>
                  <a:srgbClr val="FFFFFF"/>
                </a:solidFill>
              </a:rPr>
              <a:t>“How do clients talk to us?”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7814D-BCC8-2696-81F4-CA4E14D7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500" b="1"/>
              <a:t>Package:</a:t>
            </a:r>
            <a:r>
              <a:rPr lang="en-US" sz="1500"/>
              <a:t> </a:t>
            </a:r>
            <a:r>
              <a:rPr lang="en-US" sz="1500" err="1">
                <a:latin typeface="Courier New" panose="02070309020205020404" pitchFamily="49" charset="0"/>
              </a:rPr>
              <a:t>com.example.ecomm.controller</a:t>
            </a:r>
            <a:endParaRPr lang="en-US" sz="150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500" b="1"/>
              <a:t>Example class:</a:t>
            </a:r>
            <a:r>
              <a:rPr lang="en-US" sz="1500"/>
              <a:t> </a:t>
            </a:r>
            <a:r>
              <a:rPr lang="en-US" sz="1500" err="1">
                <a:latin typeface="Courier New" panose="02070309020205020404" pitchFamily="49" charset="0"/>
              </a:rPr>
              <a:t>ProductController</a:t>
            </a:r>
            <a:endParaRPr lang="en-US" sz="1500"/>
          </a:p>
          <a:p>
            <a:pPr>
              <a:buNone/>
            </a:pPr>
            <a:r>
              <a:rPr lang="en-US" sz="1500" b="1"/>
              <a:t>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Implements the </a:t>
            </a:r>
            <a:r>
              <a:rPr lang="en-US" sz="1500" b="1"/>
              <a:t>REST API endpoints</a:t>
            </a:r>
            <a:r>
              <a:rPr lang="en-US" sz="15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Receives HTTP requests, calls business/data logic, returns HTTP responses (JSON).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Uses data from repositories, and exposes DTOs.</a:t>
            </a:r>
          </a:p>
          <a:p>
            <a:pPr>
              <a:buNone/>
            </a:pPr>
            <a:r>
              <a:rPr lang="en-US" sz="1500" b="1"/>
              <a:t>Typical contents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Class-level annotations: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ourier New" panose="02070309020205020404" pitchFamily="49" charset="0"/>
              </a:rPr>
              <a:t>@RestController</a:t>
            </a:r>
            <a:r>
              <a:rPr lang="en-US" sz="1500"/>
              <a:t> – marks the class as a REST controller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ourier New" panose="02070309020205020404" pitchFamily="49" charset="0"/>
              </a:rPr>
              <a:t>@RequestMapping("/api/products")</a:t>
            </a:r>
            <a:r>
              <a:rPr lang="en-US" sz="1500"/>
              <a:t> – prefix for all endpoints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ourier New" panose="02070309020205020404" pitchFamily="49" charset="0"/>
              </a:rPr>
              <a:t>@GetMapping</a:t>
            </a:r>
            <a:r>
              <a:rPr lang="en-US" sz="1500"/>
              <a:t> – e.g. </a:t>
            </a:r>
            <a:r>
              <a:rPr lang="en-US" sz="1500">
                <a:latin typeface="Courier New" panose="02070309020205020404" pitchFamily="49" charset="0"/>
              </a:rPr>
              <a:t>GET /</a:t>
            </a:r>
            <a:r>
              <a:rPr lang="en-US" sz="1500" err="1">
                <a:latin typeface="Courier New" panose="02070309020205020404" pitchFamily="49" charset="0"/>
              </a:rPr>
              <a:t>api</a:t>
            </a:r>
            <a:r>
              <a:rPr lang="en-US" sz="1500">
                <a:latin typeface="Courier New" panose="02070309020205020404" pitchFamily="49" charset="0"/>
              </a:rPr>
              <a:t>/products</a:t>
            </a:r>
            <a:endParaRPr lang="en-US" sz="15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ourier New" panose="02070309020205020404" pitchFamily="49" charset="0"/>
              </a:rPr>
              <a:t>@GetMapping("/{id}")</a:t>
            </a:r>
            <a:r>
              <a:rPr lang="en-US" sz="1500"/>
              <a:t> – </a:t>
            </a:r>
            <a:r>
              <a:rPr lang="en-US" sz="1500">
                <a:latin typeface="Courier New" panose="02070309020205020404" pitchFamily="49" charset="0"/>
              </a:rPr>
              <a:t>GET /</a:t>
            </a:r>
            <a:r>
              <a:rPr lang="en-US" sz="1500" err="1">
                <a:latin typeface="Courier New" panose="02070309020205020404" pitchFamily="49" charset="0"/>
              </a:rPr>
              <a:t>api</a:t>
            </a:r>
            <a:r>
              <a:rPr lang="en-US" sz="1500">
                <a:latin typeface="Courier New" panose="02070309020205020404" pitchFamily="49" charset="0"/>
              </a:rPr>
              <a:t>/products/5</a:t>
            </a:r>
            <a:endParaRPr lang="en-US" sz="15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>
                <a:latin typeface="Courier New" panose="02070309020205020404" pitchFamily="49" charset="0"/>
              </a:rPr>
              <a:t>@PostMapping</a:t>
            </a:r>
            <a:r>
              <a:rPr lang="en-US" sz="1500"/>
              <a:t>, </a:t>
            </a:r>
            <a:r>
              <a:rPr lang="en-US" sz="1500">
                <a:latin typeface="Courier New" panose="02070309020205020404" pitchFamily="49" charset="0"/>
              </a:rPr>
              <a:t>@PutMapping</a:t>
            </a:r>
            <a:r>
              <a:rPr lang="en-US" sz="1500"/>
              <a:t>, </a:t>
            </a:r>
            <a:r>
              <a:rPr lang="en-US" sz="1500">
                <a:latin typeface="Courier New" panose="02070309020205020404" pitchFamily="49" charset="0"/>
              </a:rPr>
              <a:t>@DeleteMapping</a:t>
            </a:r>
            <a:r>
              <a:rPr lang="en-US" sz="1500"/>
              <a:t> (for create/update/delete)</a:t>
            </a:r>
          </a:p>
        </p:txBody>
      </p:sp>
    </p:spTree>
    <p:extLst>
      <p:ext uri="{BB962C8B-B14F-4D97-AF65-F5344CB8AC3E}">
        <p14:creationId xmlns:p14="http://schemas.microsoft.com/office/powerpoint/2010/main" val="230492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68FF6-4B5F-D42C-245D-83FB729B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173F2-88D2-3D74-C6F1-CC78A645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Controller layer (2) – </a:t>
            </a:r>
            <a:r>
              <a:rPr lang="en-US" sz="4400" i="1" dirty="0">
                <a:solidFill>
                  <a:srgbClr val="FFFFFF"/>
                </a:solidFill>
              </a:rPr>
              <a:t>“How do clients talk to us?”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684C4-7FBC-A1B8-58CD-BA5B39FAF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 fontScale="62500" lnSpcReduction="20000"/>
          </a:bodyPr>
          <a:lstStyle/>
          <a:p>
            <a:pPr>
              <a:buNone/>
            </a:pPr>
            <a:r>
              <a:rPr lang="en-US" b="1" dirty="0"/>
              <a:t>Example responsibilities: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 repository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 </a:t>
            </a:r>
            <a:r>
              <a:rPr lang="en-US" dirty="0">
                <a:latin typeface="Courier New" panose="02070309020205020404" pitchFamily="49" charset="0"/>
              </a:rPr>
              <a:t>Product → </a:t>
            </a:r>
            <a:r>
              <a:rPr lang="en-US" dirty="0" err="1">
                <a:latin typeface="Courier New" panose="02070309020205020404" pitchFamily="49" charset="0"/>
              </a:rPr>
              <a:t>ProductDTO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HTTP status codes (</a:t>
            </a:r>
            <a:r>
              <a:rPr lang="en-US" dirty="0">
                <a:latin typeface="Courier New" panose="02070309020205020404" pitchFamily="49" charset="0"/>
              </a:rPr>
              <a:t>200 OK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404 Not Found</a:t>
            </a:r>
            <a:r>
              <a:rPr lang="en-US" dirty="0"/>
              <a:t>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Optionally validate input (</a:t>
            </a:r>
            <a:r>
              <a:rPr lang="en-US" dirty="0">
                <a:latin typeface="Courier New" panose="02070309020205020404" pitchFamily="49" charset="0"/>
              </a:rPr>
              <a:t>@Valid</a:t>
            </a:r>
            <a:r>
              <a:rPr lang="en-US" dirty="0"/>
              <a:t> on request bodies)</a:t>
            </a:r>
          </a:p>
          <a:p>
            <a:pPr>
              <a:buNone/>
            </a:pPr>
            <a:r>
              <a:rPr lang="en-US" b="1" dirty="0"/>
              <a:t>Important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Path variables &amp; query params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@PathVariable Long id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@RequestParam(required = false) Boolean featured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Validation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@Valid</a:t>
            </a:r>
            <a:r>
              <a:rPr lang="en-US" dirty="0"/>
              <a:t> + validation annotations on DTOs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Exception handling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@ControllerAdvice</a:t>
            </a:r>
            <a:r>
              <a:rPr lang="en-US" dirty="0"/>
              <a:t> + </a:t>
            </a:r>
            <a:r>
              <a:rPr lang="en-US" dirty="0">
                <a:latin typeface="Courier New" panose="02070309020205020404" pitchFamily="49" charset="0"/>
              </a:rPr>
              <a:t>@ExceptionHandler</a:t>
            </a:r>
            <a:r>
              <a:rPr lang="en-US" dirty="0"/>
              <a:t> to centralize error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CORS config</a:t>
            </a:r>
            <a:r>
              <a:rPr lang="en-US" dirty="0"/>
              <a:t> (for React frontends)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</a:rPr>
              <a:t>@CrossOrigin(origins = "http://localhost:3000")</a:t>
            </a:r>
            <a:r>
              <a:rPr lang="en-US" dirty="0"/>
              <a:t> or global config</a:t>
            </a:r>
          </a:p>
        </p:txBody>
      </p:sp>
    </p:spTree>
    <p:extLst>
      <p:ext uri="{BB962C8B-B14F-4D97-AF65-F5344CB8AC3E}">
        <p14:creationId xmlns:p14="http://schemas.microsoft.com/office/powerpoint/2010/main" val="3157270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4EB0-B818-54C7-ED20-61313752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B89D-363D-3416-20BD-2F39F6624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43357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/>
              <a:t>Folder: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src/main/resources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ourier New" panose="02070309020205020404" pitchFamily="49" charset="0"/>
              </a:rPr>
              <a:t>application.properties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Database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JPA/Hibernate settings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Server 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ourier New" panose="02070309020205020404" pitchFamily="49" charset="0"/>
              </a:rPr>
              <a:t>data.sql</a:t>
            </a:r>
            <a:r>
              <a:rPr lang="en-US"/>
              <a:t> / </a:t>
            </a:r>
            <a:r>
              <a:rPr lang="en-US">
                <a:latin typeface="Courier New" panose="02070309020205020404" pitchFamily="49" charset="0"/>
              </a:rPr>
              <a:t>schema.sql</a:t>
            </a:r>
            <a:r>
              <a:rPr lang="en-US"/>
              <a:t> or </a:t>
            </a:r>
            <a:r>
              <a:rPr lang="en-US">
                <a:latin typeface="Courier New" panose="02070309020205020404" pitchFamily="49" charset="0"/>
              </a:rPr>
              <a:t>createTable.sql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Initial schema/data scripts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ourier New" panose="02070309020205020404" pitchFamily="49" charset="0"/>
              </a:rPr>
              <a:t>static/images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Static assets (product images), served by Spring as </a:t>
            </a:r>
            <a:r>
              <a:rPr lang="en-US">
                <a:latin typeface="Courier New" panose="02070309020205020404" pitchFamily="49" charset="0"/>
              </a:rPr>
              <a:t>/images/...</a:t>
            </a:r>
            <a:endParaRPr lang="en-US"/>
          </a:p>
          <a:p>
            <a:pPr>
              <a:buNone/>
            </a:pPr>
            <a:r>
              <a:rPr lang="en-US"/>
              <a:t>Role in 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Keeps configuration and static assets </a:t>
            </a:r>
            <a:r>
              <a:rPr lang="en-US" b="1"/>
              <a:t>outside Java code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Supports different profiles: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e.g. </a:t>
            </a:r>
            <a:r>
              <a:rPr lang="en-US">
                <a:latin typeface="Courier New" panose="02070309020205020404" pitchFamily="49" charset="0"/>
              </a:rPr>
              <a:t>application-dev.properties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</a:rPr>
              <a:t>application-prod.properties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5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7676-504D-1134-41D5-50593828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2D64-C699-747D-13DF-F1B3DDBC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request flow in this project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E635-CD57-25DE-65B6-03FECE42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8757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/>
              <a:t>Example:</a:t>
            </a:r>
            <a:r>
              <a:rPr lang="en-US"/>
              <a:t> React calls </a:t>
            </a:r>
            <a:r>
              <a:rPr lang="en-US">
                <a:latin typeface="Courier New" panose="02070309020205020404" pitchFamily="49" charset="0"/>
              </a:rPr>
              <a:t>GET /api/products/5</a:t>
            </a:r>
            <a:endParaRPr lang="en-US"/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b="1"/>
              <a:t>Client (React)</a:t>
            </a:r>
            <a:br>
              <a:rPr lang="en-US"/>
            </a:br>
            <a:r>
              <a:rPr lang="en-US"/>
              <a:t>Sends HTTP GET request to </a:t>
            </a:r>
            <a:r>
              <a:rPr lang="en-US">
                <a:latin typeface="Courier New" panose="02070309020205020404" pitchFamily="49" charset="0"/>
              </a:rPr>
              <a:t>http://localhost:8080/api/products/5</a:t>
            </a:r>
            <a:r>
              <a:rPr lang="en-US"/>
              <a:t>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b="1"/>
              <a:t>Controller (</a:t>
            </a:r>
            <a:r>
              <a:rPr lang="en-US" b="1">
                <a:latin typeface="Courier New" panose="02070309020205020404" pitchFamily="49" charset="0"/>
              </a:rPr>
              <a:t>ProductController</a:t>
            </a:r>
            <a:r>
              <a:rPr lang="en-US" b="1"/>
              <a:t>)</a:t>
            </a:r>
            <a:endParaRPr lang="en-US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/>
              <a:t>Endpoint: </a:t>
            </a:r>
            <a:r>
              <a:rPr lang="en-US">
                <a:latin typeface="Courier New" panose="02070309020205020404" pitchFamily="49" charset="0"/>
              </a:rPr>
              <a:t>@GetMapping("/{id}")</a:t>
            </a:r>
            <a:endParaRPr lang="en-US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/>
              <a:t>Uses </a:t>
            </a:r>
            <a:r>
              <a:rPr lang="en-US">
                <a:latin typeface="Courier New" panose="02070309020205020404" pitchFamily="49" charset="0"/>
              </a:rPr>
              <a:t>ProductRepository</a:t>
            </a:r>
            <a:r>
              <a:rPr lang="en-US"/>
              <a:t> to load a </a:t>
            </a:r>
            <a:r>
              <a:rPr lang="en-US">
                <a:latin typeface="Courier New" panose="02070309020205020404" pitchFamily="49" charset="0"/>
              </a:rPr>
              <a:t>Product</a:t>
            </a:r>
            <a:r>
              <a:rPr lang="en-US"/>
              <a:t> entity.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/>
              <a:t>Maps entity → </a:t>
            </a:r>
            <a:r>
              <a:rPr lang="en-US">
                <a:latin typeface="Courier New" panose="02070309020205020404" pitchFamily="49" charset="0"/>
              </a:rPr>
              <a:t>ProductDTO</a:t>
            </a:r>
            <a:r>
              <a:rPr lang="en-US"/>
              <a:t>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/>
              <a:t>Returns </a:t>
            </a:r>
            <a:r>
              <a:rPr lang="en-US">
                <a:latin typeface="Courier New" panose="02070309020205020404" pitchFamily="49" charset="0"/>
              </a:rPr>
              <a:t>ProductDTO</a:t>
            </a:r>
            <a:r>
              <a:rPr lang="en-US"/>
              <a:t> as JSON.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b="1"/>
              <a:t>Repository (</a:t>
            </a:r>
            <a:r>
              <a:rPr lang="en-US" b="1">
                <a:latin typeface="Courier New" panose="02070309020205020404" pitchFamily="49" charset="0"/>
              </a:rPr>
              <a:t>ProductRepository</a:t>
            </a:r>
            <a:r>
              <a:rPr lang="en-US" b="1"/>
              <a:t>)</a:t>
            </a:r>
            <a:endParaRPr lang="en-US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/>
              <a:t>Calls the database via JPA/Hibernate.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/>
              <a:t>Executes the appropriate SQL.</a:t>
            </a:r>
          </a:p>
        </p:txBody>
      </p:sp>
    </p:spTree>
    <p:extLst>
      <p:ext uri="{BB962C8B-B14F-4D97-AF65-F5344CB8AC3E}">
        <p14:creationId xmlns:p14="http://schemas.microsoft.com/office/powerpoint/2010/main" val="425377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F9F9-02C8-7B0F-D6B7-5F9FABE5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request flow in this project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E89E7-A955-1270-6C55-61AD3B5C9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1757680"/>
            <a:ext cx="10753725" cy="468757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/>
              <a:t>Model (</a:t>
            </a:r>
            <a:r>
              <a:rPr lang="en-US" b="1" dirty="0">
                <a:latin typeface="Courier New" panose="02070309020205020404" pitchFamily="49" charset="0"/>
              </a:rPr>
              <a:t>Product</a:t>
            </a:r>
            <a:r>
              <a:rPr lang="en-US" b="1" dirty="0"/>
              <a:t>)</a:t>
            </a:r>
            <a:endParaRPr lang="en-US" dirty="0"/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dirty="0"/>
              <a:t>Represents the row from </a:t>
            </a:r>
            <a:r>
              <a:rPr lang="en-US" dirty="0">
                <a:latin typeface="Courier New" panose="02070309020205020404" pitchFamily="49" charset="0"/>
              </a:rPr>
              <a:t>products</a:t>
            </a:r>
            <a:r>
              <a:rPr lang="en-US" dirty="0"/>
              <a:t> table.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dirty="0"/>
              <a:t>JPA maps columns to fields.</a:t>
            </a:r>
          </a:p>
          <a:p>
            <a:pPr>
              <a:buFont typeface="+mj-lt"/>
              <a:buAutoNum type="arabicPeriod" startAt="4"/>
            </a:pPr>
            <a:r>
              <a:rPr lang="en-US" b="1" dirty="0"/>
              <a:t>   Response to client</a:t>
            </a:r>
            <a:endParaRPr lang="en-US" dirty="0"/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dirty="0"/>
              <a:t>JSON with fields from </a:t>
            </a:r>
            <a:r>
              <a:rPr lang="en-US" dirty="0" err="1">
                <a:latin typeface="Courier New" panose="02070309020205020404" pitchFamily="49" charset="0"/>
              </a:rPr>
              <a:t>ProductDTO</a:t>
            </a:r>
            <a:r>
              <a:rPr lang="en-US" dirty="0"/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description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price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imageUrl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details</a:t>
            </a:r>
            <a:endParaRPr lang="en-US" dirty="0"/>
          </a:p>
          <a:p>
            <a:pPr>
              <a:buNone/>
            </a:pPr>
            <a:r>
              <a:rPr lang="en-US" b="1" dirty="0"/>
              <a:t>For images: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JSON contains </a:t>
            </a:r>
            <a:r>
              <a:rPr lang="en-US" dirty="0" err="1">
                <a:latin typeface="Courier New" panose="02070309020205020404" pitchFamily="49" charset="0"/>
              </a:rPr>
              <a:t>imageUrl</a:t>
            </a:r>
            <a:r>
              <a:rPr lang="en-US" dirty="0">
                <a:latin typeface="Courier New" panose="02070309020205020404" pitchFamily="49" charset="0"/>
              </a:rPr>
              <a:t>: "/images/coffee.jpg"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 builds full URL and requests </a:t>
            </a:r>
            <a:r>
              <a:rPr lang="en-US" dirty="0">
                <a:latin typeface="Courier New" panose="02070309020205020404" pitchFamily="49" charset="0"/>
              </a:rPr>
              <a:t>http://localhost:8080/images/coffee.jpg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Boot serves the static file from </a:t>
            </a:r>
            <a:r>
              <a:rPr lang="en-US" dirty="0">
                <a:latin typeface="Courier New" panose="02070309020205020404" pitchFamily="49" charset="0"/>
              </a:rPr>
              <a:t>resources/static/images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258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B296-0F17-93D1-580B-2FCBC8F0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Configurations in </a:t>
            </a:r>
            <a:r>
              <a:rPr lang="en-US" dirty="0" err="1"/>
              <a:t>appication.properties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F62BD-2F20-F7C4-9C54-4C81647D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63677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600" dirty="0">
                <a:solidFill>
                  <a:srgbClr val="7A7E85"/>
                </a:solidFill>
                <a:effectLst/>
                <a:latin typeface="JetBrains Mono"/>
              </a:rPr>
              <a:t># === PostgreSQL Config ===</a:t>
            </a:r>
            <a:br>
              <a:rPr lang="en-US" sz="16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CF8E6D"/>
                </a:solidFill>
                <a:effectLst/>
                <a:latin typeface="JetBrains Mono"/>
              </a:rPr>
              <a:t>spring.datasource.url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 err="1">
                <a:solidFill>
                  <a:srgbClr val="6AAB73"/>
                </a:solidFill>
                <a:effectLst/>
                <a:latin typeface="JetBrains Mono"/>
              </a:rPr>
              <a:t>jdbc:postgresql</a:t>
            </a:r>
            <a: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  <a:t>://localhost:5432/</a:t>
            </a:r>
            <a:r>
              <a:rPr lang="en-US" sz="1600" dirty="0" err="1">
                <a:solidFill>
                  <a:srgbClr val="6AAB73"/>
                </a:solidFill>
                <a:effectLst/>
                <a:latin typeface="JetBrains Mono"/>
              </a:rPr>
              <a:t>ecommdb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spring.datasource.username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 err="1">
                <a:solidFill>
                  <a:srgbClr val="6AAB73"/>
                </a:solidFill>
                <a:effectLst/>
                <a:latin typeface="JetBrains Mono"/>
              </a:rPr>
              <a:t>postgres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spring.datasource.password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  <a:t>123456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spring.datasource.driver</a:t>
            </a:r>
            <a:r>
              <a:rPr lang="en-US" sz="1600" dirty="0">
                <a:solidFill>
                  <a:srgbClr val="CF8E6D"/>
                </a:solidFill>
                <a:effectLst/>
                <a:latin typeface="JetBrains Mono"/>
              </a:rPr>
              <a:t>-class-name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 err="1">
                <a:solidFill>
                  <a:srgbClr val="6AAB73"/>
                </a:solidFill>
                <a:effectLst/>
                <a:latin typeface="JetBrains Mono"/>
              </a:rPr>
              <a:t>org.postgresql.Driver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7A7E85"/>
                </a:solidFill>
                <a:effectLst/>
                <a:latin typeface="JetBrains Mono"/>
              </a:rPr>
              <a:t># JPA / Hibernate</a:t>
            </a:r>
            <a:br>
              <a:rPr lang="en-US" sz="16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spring.jpa.hibernate.ddl</a:t>
            </a:r>
            <a:r>
              <a:rPr lang="en-US" sz="1600" dirty="0">
                <a:solidFill>
                  <a:srgbClr val="CF8E6D"/>
                </a:solidFill>
                <a:effectLst/>
                <a:latin typeface="JetBrains Mono"/>
              </a:rPr>
              <a:t>-auto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  <a:t>update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spring.jpa.show-sql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  <a:t>true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spring.jpa.properties.hibernate.format_sql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  <a:t>true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spring.jpa.properties.hibernate.dialect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 err="1">
                <a:solidFill>
                  <a:srgbClr val="6AAB73"/>
                </a:solidFill>
                <a:effectLst/>
                <a:latin typeface="JetBrains Mono"/>
              </a:rPr>
              <a:t>org.hibernate.dialect.PostgreSQLDialect</a:t>
            </a: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7A7E85"/>
                </a:solidFill>
                <a:effectLst/>
                <a:latin typeface="JetBrains Mono"/>
              </a:rPr>
              <a:t># Server port</a:t>
            </a:r>
            <a:br>
              <a:rPr lang="en-US" sz="16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sz="1600" dirty="0" err="1">
                <a:solidFill>
                  <a:srgbClr val="CF8E6D"/>
                </a:solidFill>
                <a:effectLst/>
                <a:latin typeface="JetBrains Mono"/>
              </a:rPr>
              <a:t>server.port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"/>
              </a:rPr>
              <a:t>=</a:t>
            </a:r>
            <a:r>
              <a:rPr lang="en-US" sz="1600" dirty="0">
                <a:solidFill>
                  <a:srgbClr val="6AAB73"/>
                </a:solidFill>
                <a:effectLst/>
                <a:latin typeface="JetBrains Mono"/>
              </a:rPr>
              <a:t>8080</a:t>
            </a:r>
            <a:endParaRPr lang="en-US" sz="160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2508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2FEC-4A6A-B2A6-FEFD-4A5AFDBF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DataSource</a:t>
            </a:r>
            <a:r>
              <a:rPr lang="en-US" dirty="0"/>
              <a:t> / Database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0295B-4088-26E5-11C4-03004842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2000" cy="435133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spring.datasource.url</a:t>
            </a:r>
            <a:endParaRPr lang="en-US" b="1" dirty="0"/>
          </a:p>
          <a:p>
            <a:pPr>
              <a:buNone/>
            </a:pPr>
            <a:r>
              <a:rPr lang="en-US" b="1" dirty="0"/>
              <a:t>What it does: </a:t>
            </a:r>
            <a:r>
              <a:rPr lang="en-US" dirty="0"/>
              <a:t>Defines how to connect to the database.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spring.datasource.url=</a:t>
            </a:r>
            <a:r>
              <a:rPr lang="en-US" dirty="0" err="1">
                <a:latin typeface="Courier New" panose="02070309020205020404" pitchFamily="49" charset="0"/>
              </a:rPr>
              <a:t>jdbc:postgresql</a:t>
            </a:r>
            <a:r>
              <a:rPr lang="en-US" dirty="0">
                <a:latin typeface="Courier New" panose="02070309020205020404" pitchFamily="49" charset="0"/>
              </a:rPr>
              <a:t>://localhost:5432/</a:t>
            </a:r>
            <a:r>
              <a:rPr lang="en-US" dirty="0" err="1">
                <a:latin typeface="Courier New" panose="02070309020205020404" pitchFamily="49" charset="0"/>
              </a:rPr>
              <a:t>ecommdb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Breakdown: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jdbc:postgresql</a:t>
            </a:r>
            <a:r>
              <a:rPr lang="en-US" dirty="0"/>
              <a:t> → use the PostgreSQL JDBC 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localhost</a:t>
            </a:r>
            <a:r>
              <a:rPr lang="en-US" dirty="0"/>
              <a:t> → the database is running on the same machine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5432</a:t>
            </a:r>
            <a:r>
              <a:rPr lang="en-US" dirty="0"/>
              <a:t> → default PostgreSQL 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ecommdb</a:t>
            </a:r>
            <a:r>
              <a:rPr lang="en-US" dirty="0"/>
              <a:t> → database name</a:t>
            </a:r>
          </a:p>
          <a:p>
            <a:pPr>
              <a:buNone/>
            </a:pPr>
            <a:r>
              <a:rPr lang="en-US" dirty="0"/>
              <a:t>So, this means:</a:t>
            </a:r>
          </a:p>
          <a:p>
            <a:pPr>
              <a:buNone/>
            </a:pPr>
            <a:r>
              <a:rPr lang="en-US" dirty="0"/>
              <a:t>“Connect to the </a:t>
            </a:r>
            <a:r>
              <a:rPr lang="en-US" dirty="0" err="1">
                <a:latin typeface="Courier New" panose="02070309020205020404" pitchFamily="49" charset="0"/>
              </a:rPr>
              <a:t>ecommdb</a:t>
            </a:r>
            <a:r>
              <a:rPr lang="en-US" dirty="0"/>
              <a:t> database on </a:t>
            </a:r>
            <a:r>
              <a:rPr lang="en-US" dirty="0">
                <a:latin typeface="Courier New" panose="02070309020205020404" pitchFamily="49" charset="0"/>
              </a:rPr>
              <a:t>localhost:5432</a:t>
            </a:r>
            <a:r>
              <a:rPr lang="en-US" dirty="0"/>
              <a:t> using the PostgreSQL driver.”</a:t>
            </a:r>
          </a:p>
        </p:txBody>
      </p:sp>
    </p:spTree>
    <p:extLst>
      <p:ext uri="{BB962C8B-B14F-4D97-AF65-F5344CB8AC3E}">
        <p14:creationId xmlns:p14="http://schemas.microsoft.com/office/powerpoint/2010/main" val="180720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EC03-2D46-7BA3-08EB-CB9E8A5D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77757"/>
          </a:xfrm>
        </p:spPr>
        <p:txBody>
          <a:bodyPr>
            <a:normAutofit fontScale="90000"/>
          </a:bodyPr>
          <a:lstStyle/>
          <a:p>
            <a:r>
              <a:rPr lang="en-US" sz="4000" dirty="0" err="1"/>
              <a:t>spring.datasource.username</a:t>
            </a:r>
            <a:r>
              <a:rPr lang="en-US" sz="4000" dirty="0"/>
              <a:t> &amp; </a:t>
            </a:r>
            <a:r>
              <a:rPr lang="en-US" sz="4000" dirty="0" err="1"/>
              <a:t>spring.datasource.password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99A0-A1EF-FB45-9ADA-8D04FDF52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1622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What they do: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These are the database login credentials used by Spring Boot.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username</a:t>
            </a:r>
            <a:r>
              <a:rPr lang="en-US" dirty="0"/>
              <a:t> → database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password</a:t>
            </a:r>
            <a:r>
              <a:rPr lang="en-US" dirty="0"/>
              <a:t> → that user’s password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In a real production system do not hard-code the password here</a:t>
            </a:r>
            <a:r>
              <a:rPr lang="en-US" dirty="0"/>
              <a:t>, but use environment variables. Write their real values to the environment of the server.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B8F22-798A-38E0-13ED-D70D734C684B}"/>
              </a:ext>
            </a:extLst>
          </p:cNvPr>
          <p:cNvSpPr txBox="1"/>
          <p:nvPr/>
        </p:nvSpPr>
        <p:spPr>
          <a:xfrm>
            <a:off x="2857500" y="4890185"/>
            <a:ext cx="6096000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err="1"/>
              <a:t>spring.datasource.username</a:t>
            </a:r>
            <a:r>
              <a:rPr lang="en-US" sz="2400" dirty="0"/>
              <a:t>=${DB_USER}</a:t>
            </a:r>
          </a:p>
          <a:p>
            <a:r>
              <a:rPr lang="en-US" sz="2400" dirty="0" err="1"/>
              <a:t>spring.datasource.password</a:t>
            </a:r>
            <a:r>
              <a:rPr lang="en-US" sz="2400" dirty="0"/>
              <a:t>=${DB_PASS}</a:t>
            </a:r>
          </a:p>
        </p:txBody>
      </p:sp>
    </p:spTree>
    <p:extLst>
      <p:ext uri="{BB962C8B-B14F-4D97-AF65-F5344CB8AC3E}">
        <p14:creationId xmlns:p14="http://schemas.microsoft.com/office/powerpoint/2010/main" val="275676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E00F-6C98-F386-18DF-C6B00F04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spring.datasource.driver</a:t>
            </a:r>
            <a:r>
              <a:rPr lang="en-US" dirty="0"/>
              <a:t>-class-name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AED81-9B17-EA94-D312-E5E0590C9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5475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What it does:</a:t>
            </a:r>
            <a:br>
              <a:rPr lang="en-US" dirty="0"/>
            </a:br>
            <a:r>
              <a:rPr lang="en-US" dirty="0"/>
              <a:t>Tells Spring which JDBC driver class to use for the connection.</a:t>
            </a:r>
          </a:p>
          <a:p>
            <a:pPr>
              <a:buNone/>
            </a:pPr>
            <a:r>
              <a:rPr lang="en-US" dirty="0"/>
              <a:t>Since we added the PostgreSQL dependency in </a:t>
            </a:r>
            <a:r>
              <a:rPr lang="en-US" dirty="0">
                <a:latin typeface="Courier New" panose="02070309020205020404" pitchFamily="49" charset="0"/>
              </a:rPr>
              <a:t>pom.xml</a:t>
            </a:r>
            <a:r>
              <a:rPr lang="en-US" dirty="0"/>
              <a:t>, this driver is available, and Spring uses it to talk to PostgreSQL.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E35DD-F152-2ECE-4898-000AC587DD93}"/>
              </a:ext>
            </a:extLst>
          </p:cNvPr>
          <p:cNvSpPr txBox="1"/>
          <p:nvPr/>
        </p:nvSpPr>
        <p:spPr>
          <a:xfrm>
            <a:off x="1066800" y="4450834"/>
            <a:ext cx="10242550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dirty="0" err="1"/>
              <a:t>spring.datasource.driver</a:t>
            </a:r>
            <a:r>
              <a:rPr lang="en-US" sz="2800" dirty="0"/>
              <a:t>-class-name=</a:t>
            </a:r>
            <a:r>
              <a:rPr lang="en-US" sz="2800" dirty="0" err="1"/>
              <a:t>org.postgresql.Driver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4619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5527-66F6-17C4-BD9D-491DA418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JPA / Hibernate settings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D74A-94DE-7F55-1046-DD1D29623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801"/>
            <a:ext cx="10515600" cy="281939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What it does:</a:t>
            </a:r>
            <a:br>
              <a:rPr lang="en-US" dirty="0"/>
            </a:br>
            <a:r>
              <a:rPr lang="en-US" dirty="0"/>
              <a:t>Controls how Hibernate handles the database schema (tables, columns) at startup.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Common values: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create</a:t>
            </a:r>
            <a:r>
              <a:rPr lang="en-US" dirty="0"/>
              <a:t> – drop and recreate all tables on every startup (data is lost)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create-drop</a:t>
            </a:r>
            <a:r>
              <a:rPr lang="en-US" dirty="0"/>
              <a:t> – create tables at startup, drop them when the app stops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update</a:t>
            </a:r>
            <a:r>
              <a:rPr lang="en-US" dirty="0"/>
              <a:t> – </a:t>
            </a:r>
            <a:r>
              <a:rPr lang="en-US" b="1" dirty="0"/>
              <a:t>try to update</a:t>
            </a:r>
            <a:r>
              <a:rPr lang="en-US" dirty="0"/>
              <a:t> the existing schema to match your entity classes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validate</a:t>
            </a:r>
            <a:r>
              <a:rPr lang="en-US" dirty="0"/>
              <a:t> – only check if the schema matches the entities; do not change anything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619AF-2692-0274-E16F-CD58BF19C310}"/>
              </a:ext>
            </a:extLst>
          </p:cNvPr>
          <p:cNvSpPr txBox="1"/>
          <p:nvPr/>
        </p:nvSpPr>
        <p:spPr>
          <a:xfrm>
            <a:off x="2613025" y="1701800"/>
            <a:ext cx="609600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 err="1"/>
              <a:t>spring.jpa.hibernate.ddl</a:t>
            </a:r>
            <a:r>
              <a:rPr lang="en-US" sz="2400" dirty="0"/>
              <a:t>-auto=update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262C5-FFEC-E47B-5A3C-B65CA99BDED2}"/>
              </a:ext>
            </a:extLst>
          </p:cNvPr>
          <p:cNvSpPr txBox="1"/>
          <p:nvPr/>
        </p:nvSpPr>
        <p:spPr>
          <a:xfrm>
            <a:off x="990600" y="5156200"/>
            <a:ext cx="9340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/>
              <a:t>: “At startup, compare the entity classes to the database tables and automatically add/modify columns when possible.”</a:t>
            </a:r>
          </a:p>
          <a:p>
            <a:pPr>
              <a:buNone/>
            </a:pPr>
            <a:r>
              <a:rPr lang="en-US" dirty="0"/>
              <a:t>This is very convenient for development and student projects.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Validate</a:t>
            </a:r>
            <a:r>
              <a:rPr lang="en-US" dirty="0"/>
              <a:t>: In production (for real-life projects): Generally, a validate + migration tool (Flyway/Liquibase) is preferred.</a:t>
            </a:r>
          </a:p>
        </p:txBody>
      </p:sp>
    </p:spTree>
    <p:extLst>
      <p:ext uri="{BB962C8B-B14F-4D97-AF65-F5344CB8AC3E}">
        <p14:creationId xmlns:p14="http://schemas.microsoft.com/office/powerpoint/2010/main" val="1584738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A91C-6CA4-748E-F048-47795830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Summary of Settings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1CCFB4-021B-E877-876B-E09316EEB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64537"/>
            <a:ext cx="1018035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DataSource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spring.datasource.url → where is the database?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spring.datasource.username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/password → how to log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spring.datasource.driver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-class-name → which JDBC driver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JPA/Hibernate properties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spring.jpa.hibernate.ddl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-auto → how to manage the schema (update in dev)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spring.jpa.show-sql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log generated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spring.jpa.properties.hibernate.format_sql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pretty-print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spring.jpa.properties.hibernate.dialect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SQL dialect for the chosen 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property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server.port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which HTTP port the backend uses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02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5D3F3-705A-EA21-CACE-9E6DED80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14251"/>
            <a:ext cx="10923638" cy="1125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600" dirty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23282B6-440A-EF48-1BD9-454679D63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963" y="643467"/>
            <a:ext cx="3590205" cy="359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912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365</TotalTime>
  <Words>1870</Words>
  <Application>Microsoft Office PowerPoint</Application>
  <PresentationFormat>Widescreen</PresentationFormat>
  <Paragraphs>208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JetBrains Mono</vt:lpstr>
      <vt:lpstr>Metropolitan</vt:lpstr>
      <vt:lpstr>Spring Boot </vt:lpstr>
      <vt:lpstr>Spring Boot Starter</vt:lpstr>
      <vt:lpstr>Layered backend architecture</vt:lpstr>
      <vt:lpstr>Application bootstrap – “Where does it all start?”</vt:lpstr>
      <vt:lpstr>Model layer (1) – “What is our data?” </vt:lpstr>
      <vt:lpstr>Model layer (2) – “What is our data?” </vt:lpstr>
      <vt:lpstr>Repository layer (1) – “How do we talk to the database?” </vt:lpstr>
      <vt:lpstr>Repository layer (2) – “How do we talk to the database?” </vt:lpstr>
      <vt:lpstr>DTO layer (1) – “What do we send over the network?”</vt:lpstr>
      <vt:lpstr>DTO layer (2) – “What do we send over the network?”</vt:lpstr>
      <vt:lpstr>Controller layer – “How do clients talk to us?”</vt:lpstr>
      <vt:lpstr>Controller layer (2) – “How do clients talk to us?”</vt:lpstr>
      <vt:lpstr>Resources &amp; configuration</vt:lpstr>
      <vt:lpstr>Typical request flow in this project (1)</vt:lpstr>
      <vt:lpstr>Typical request flow in this project (2)</vt:lpstr>
      <vt:lpstr>Configurations in appication.properties</vt:lpstr>
      <vt:lpstr>DataSource / Database settings</vt:lpstr>
      <vt:lpstr>spring.datasource.username &amp; spring.datasource.password</vt:lpstr>
      <vt:lpstr>spring.datasource.driver-class-name</vt:lpstr>
      <vt:lpstr>JPA / Hibernate settings</vt:lpstr>
      <vt:lpstr>Short Summary of Settings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Gürhanlı</dc:creator>
  <cp:lastModifiedBy>Ahmet Gürhanlı</cp:lastModifiedBy>
  <cp:revision>3</cp:revision>
  <dcterms:created xsi:type="dcterms:W3CDTF">2025-12-17T13:48:22Z</dcterms:created>
  <dcterms:modified xsi:type="dcterms:W3CDTF">2025-12-17T19:53:28Z</dcterms:modified>
</cp:coreProperties>
</file>